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C63FF"/>
                </a:solidFill>
              </a:defRPr>
            </a:pPr>
            <a:r>
              <a:t>EXECUTIVE CASE REPORT &amp; LIVE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8E9ED"/>
                </a:solidFill>
              </a:defRPr>
            </a:pPr>
            <a:r>
              <a:t>Where Clinkt's Revenue Goes to Die</a:t>
            </a:r>
          </a:p>
          <a:p>
            <a:pPr>
              <a:spcBef>
                <a:spcPts val="1200"/>
              </a:spcBef>
              <a:defRPr sz="1800">
                <a:solidFill>
                  <a:srgbClr val="8B8FA3"/>
                </a:solidFill>
              </a:defRPr>
            </a:pPr>
            <a:r>
              <a:t>Root-Cause Investigation of the 70.5% Cart Abandonment &amp; Our Working +87.6% Revenue Recovery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2377440" cy="146304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LOST CART REVENUE</a:t>
            </a:r>
          </a:p>
          <a:p>
            <a:pPr>
              <a:spcAft>
                <a:spcPts val="600"/>
              </a:spcAft>
              <a:defRPr sz="2800" b="1">
                <a:solidFill>
                  <a:srgbClr val="FF5A5A"/>
                </a:solidFill>
              </a:defRPr>
            </a:pPr>
            <a:r>
              <a:t>₹84,857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1.75× Actual Sales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4389120"/>
            <a:ext cx="2377440" cy="146304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CART ABANDONMENT</a:t>
            </a:r>
          </a:p>
          <a:p>
            <a:pPr>
              <a:spcAft>
                <a:spcPts val="600"/>
              </a:spcAft>
              <a:defRPr sz="2800" b="1">
                <a:solidFill>
                  <a:srgbClr val="FBBF24"/>
                </a:solidFill>
              </a:defRPr>
            </a:pPr>
            <a:r>
              <a:t>70.5%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666 of 945 dropped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389120"/>
            <a:ext cx="2377440" cy="146304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STOCK ISSUES</a:t>
            </a:r>
          </a:p>
          <a:p>
            <a:pPr>
              <a:spcAft>
                <a:spcPts val="600"/>
              </a:spcAft>
              <a:defRPr sz="2800" b="1">
                <a:solidFill>
                  <a:srgbClr val="FF5A5A"/>
                </a:solidFill>
              </a:defRPr>
            </a:pPr>
            <a:r>
              <a:t>60.7%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Sub-optimal stock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4389120"/>
            <a:ext cx="2377440" cy="146304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PROJECTED RECOVERY</a:t>
            </a:r>
          </a:p>
          <a:p>
            <a:pPr>
              <a:spcAft>
                <a:spcPts val="600"/>
              </a:spcAft>
              <a:defRPr sz="2800" b="1">
                <a:solidFill>
                  <a:srgbClr val="34D399"/>
                </a:solidFill>
              </a:defRPr>
            </a:pPr>
            <a:r>
              <a:t>+87.6%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+₹42.4K/mo uplift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63FF"/>
                </a:solidFill>
              </a:defRPr>
            </a:pPr>
            <a:r>
              <a:t>CLINKT CASE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8E9ED"/>
                </a:solidFill>
              </a:defRPr>
            </a:pPr>
            <a:r>
              <a:t>The Executive Verdict: A Single Self-Feeding Failure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8FA3"/>
                </a:solidFill>
              </a:defRPr>
            </a:pPr>
            <a:r>
              <a:t>Traffic is arriving (2,708 views), but revenue leaks at every step of the funnel.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2E3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1. RECOMMENDATION MISMATCH</a:t>
            </a:r>
          </a:p>
          <a:p>
            <a:pPr>
              <a:spcAft>
                <a:spcPts val="600"/>
              </a:spcAft>
              <a:defRPr sz="2800" b="1">
                <a:solidFill>
                  <a:srgbClr val="FF5A5A"/>
                </a:solidFill>
              </a:defRPr>
            </a:pPr>
            <a:r>
              <a:t>15.5% vs 9%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Home Care pushed heavily (15.5% views) but accounts for only 9.0% orders.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High-intent Staples &amp; Grains buried (8.3% views vs 11.5% orders).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264 sessions (32.6%) bounce in &lt;1.4 min with zero cart additions.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2E3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2. BLIND INVENTORY PLANNING</a:t>
            </a:r>
          </a:p>
          <a:p>
            <a:pPr>
              <a:spcAft>
                <a:spcPts val="600"/>
              </a:spcAft>
              <a:defRPr sz="2800" b="1">
                <a:solidFill>
                  <a:srgbClr val="FF5A5A"/>
                </a:solidFill>
              </a:defRPr>
            </a:pPr>
            <a:r>
              <a:t>0 Days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60.7% of product-days face stock shortages.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Top demand SKU (Instant Noodles, score 481) had 0 healthy days &amp; 11 critical stockout days.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Interested customers add items, hit stockouts, and drop.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2E3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3. HIGH-VALUE ABANDONMENT</a:t>
            </a:r>
          </a:p>
          <a:p>
            <a:pPr>
              <a:spcAft>
                <a:spcPts val="600"/>
              </a:spcAft>
              <a:defRPr sz="2800" b="1">
                <a:solidFill>
                  <a:srgbClr val="FBBF24"/>
                </a:solidFill>
              </a:defRPr>
            </a:pPr>
            <a:r>
              <a:t>79.5%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Family segment has highest AOV (₹192.60) but worst cart drop rate (79.5%).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₹84,857 left behind in carts vs ₹48,412 earned revenue.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Total order velocity trending down (r = -0.212).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63FF"/>
                </a:solidFill>
              </a:defRPr>
            </a:pPr>
            <a:r>
              <a:t>CLINKT CASE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8E9ED"/>
                </a:solidFill>
              </a:defRPr>
            </a:pPr>
            <a:r>
              <a:t>Funnel Leakage: 70.5% of Carts Abandoned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8FA3"/>
                </a:solidFill>
              </a:defRPr>
            </a:pPr>
            <a:r>
              <a:t>Where customer intent is generated vs where it evaporates.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2E3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THE 3-STEP FUNNEL BREAKDOWN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Step 1: Product Views (811 Sessions)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  • 2,708 Views generated across 31 days (100% baseline)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  • 65.1% drop before adding anything to cart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Step 2: Add-to-Cart (547 Sessions)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  • 945 Total Items added to cart (34.9% view conversion)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  • 70.5% OF ALL CART ITEMS ARE ABANDONED (666 items)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Step 3: Completed Orders (218 Sessions)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  • 279 Total Items purchased (Only 29.5% cart capture)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  • Actual Revenue: ₹48,412  |  Abandoned: ₹84,857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205740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FAMILY SEGMENT CRISIS</a:t>
            </a:r>
          </a:p>
          <a:p>
            <a:pPr>
              <a:spcAft>
                <a:spcPts val="600"/>
              </a:spcAft>
              <a:defRPr sz="2800" b="1">
                <a:solidFill>
                  <a:srgbClr val="FF5A5A"/>
                </a:solidFill>
              </a:defRPr>
            </a:pPr>
            <a:r>
              <a:t>79.5%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Family AOV: ₹192.60 (Highest on platform)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174 abandoned items vs 45 completed orders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Losing our most valuable customer cohort.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60520"/>
            <a:ext cx="5212080" cy="205740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BOUNCE DURATION DISPARITY</a:t>
            </a:r>
          </a:p>
          <a:p>
            <a:pPr>
              <a:spcAft>
                <a:spcPts val="600"/>
              </a:spcAft>
              <a:defRPr sz="2800" b="1">
                <a:solidFill>
                  <a:srgbClr val="FBBF24"/>
                </a:solidFill>
              </a:defRPr>
            </a:pPr>
            <a:r>
              <a:t>1.4m vs 9.4m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View-only sessions: Average 1.4 minutes (Instant bounce)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Completed order sessions: Average 9.4 minutes (6.7× longer)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Proof that discovery friction triggers early abandonment.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63FF"/>
                </a:solidFill>
              </a:defRPr>
            </a:pPr>
            <a:r>
              <a:t>CLINKT CASE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8E9ED"/>
                </a:solidFill>
              </a:defRPr>
            </a:pPr>
            <a:r>
              <a:t>Scientific Rigor: What We Tested &amp; Ruled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8FA3"/>
                </a:solidFill>
              </a:defRPr>
            </a:pPr>
            <a:r>
              <a:t>Every alternative explanation was systematically tested against dataset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1. PRICE SENSITIVITY?</a:t>
            </a:r>
          </a:p>
          <a:p>
            <a:pPr>
              <a:spcAft>
                <a:spcPts val="600"/>
              </a:spcAft>
              <a:defRPr sz="2800" b="1">
                <a:solidFill>
                  <a:srgbClr val="34D399"/>
                </a:solidFill>
              </a:defRPr>
            </a:pPr>
            <a:r>
              <a:t>RULED OUT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Hypothesis: Customers abandon because prices are too high.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Evidence: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Abandoned items avg: ₹127.41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Ordered items avg: ₹123.63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Difference is only 3.0% (negligible).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Price is NOT driving the 70.5% drop.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2. TOTAL SUPPLY SHORTAGE?</a:t>
            </a:r>
          </a:p>
          <a:p>
            <a:pPr>
              <a:spcAft>
                <a:spcPts val="600"/>
              </a:spcAft>
              <a:defRPr sz="2800" b="1">
                <a:solidFill>
                  <a:srgbClr val="34D399"/>
                </a:solidFill>
              </a:defRPr>
            </a:pPr>
            <a:r>
              <a:t>RULED OUT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Hypothesis: The warehouse had zero stock across the board.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Evidence: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Slow movers (Cookies 200g, Cola 750ml) maintained healthy stock for 31/31 days.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This is an allocation/prioritization failure, not a supply ceiling.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3. UNINTERESTED VISITORS?</a:t>
            </a:r>
          </a:p>
          <a:p>
            <a:pPr>
              <a:spcAft>
                <a:spcPts val="600"/>
              </a:spcAft>
              <a:defRPr sz="2800" b="1">
                <a:solidFill>
                  <a:srgbClr val="34D399"/>
                </a:solidFill>
              </a:defRPr>
            </a:pPr>
            <a:r>
              <a:t>RULED OUT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Hypothesis: Website traffic is accidental or low-intent clicks.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Evidence: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100% of purchased categories were previously viewed in session.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When relevant items are shown and in stock, conversion occurs.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63FF"/>
                </a:solidFill>
              </a:defRPr>
            </a:pPr>
            <a:r>
              <a:t>CLINKT CASE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8E9ED"/>
                </a:solidFill>
              </a:defRPr>
            </a:pPr>
            <a:r>
              <a:t>The Solution Engine: 3 Working Algorithmic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8FA3"/>
                </a:solidFill>
              </a:defRPr>
            </a:pPr>
            <a:r>
              <a:t>We engineered and exported actionable optimization models for all 36 SKUs.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PILLAR 1: DYNAMIC REPLENISHMENT</a:t>
            </a:r>
          </a:p>
          <a:p>
            <a:pPr>
              <a:spcAft>
                <a:spcPts val="600"/>
              </a:spcAft>
              <a:defRPr sz="2800" b="1">
                <a:solidFill>
                  <a:srgbClr val="6C63FF"/>
                </a:solidFill>
              </a:defRPr>
            </a:pPr>
            <a:r>
              <a:t>ROP Model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Formula: ROP = (Latent_Demand × L) + Safety_Stock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Factors in uncaptured cart demand.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Instant Noodles buffer increased from 10 to 24 units.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Bath Soap buffer to 18 units.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Full 36-SKU plan in exports/13.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PILLAR 2: RECOMMENDATION MATRIX</a:t>
            </a:r>
          </a:p>
          <a:p>
            <a:pPr>
              <a:spcAft>
                <a:spcPts val="600"/>
              </a:spcAft>
              <a:defRPr sz="2800" b="1">
                <a:solidFill>
                  <a:srgbClr val="6C63FF"/>
                </a:solidFill>
              </a:defRPr>
            </a:pPr>
            <a:r>
              <a:t>Re-Weighted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Suppress Home Care: -42% (down to 9.0%)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Suppress Personal Care: -20% (down to 9.3%)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Boost Staples &amp; Grains: +66% (to 13.8%)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Boost Fresh Produce: +42% (to 15.5%)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Eliminates wasted landing impressions.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PILLAR 3: FAMILY BASKET ENGINE</a:t>
            </a:r>
          </a:p>
          <a:p>
            <a:pPr>
              <a:spcAft>
                <a:spcPts val="600"/>
              </a:spcAft>
              <a:defRPr sz="2800" b="1">
                <a:solidFill>
                  <a:srgbClr val="6C63FF"/>
                </a:solidFill>
              </a:defRPr>
            </a:pPr>
            <a:r>
              <a:t>Retargeting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Dedicated 'Family Essentials' smart packs.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Real-time stockout warnings before cart addition.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Automated SMS/Push cart recovery targeting 329 dropped sessions.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• Recovers 20-35% of lost carts.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63FF"/>
                </a:solidFill>
              </a:defRPr>
            </a:pPr>
            <a:r>
              <a:t>CLINKT CASE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8E9ED"/>
                </a:solidFill>
              </a:defRPr>
            </a:pPr>
            <a:r>
              <a:t>Financial Impact &amp; Live Prototype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8FA3"/>
                </a:solidFill>
              </a:defRPr>
            </a:pPr>
            <a:r>
              <a:t>Quantified business recovery models and live interactive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377440" cy="201168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2E3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CURRENT REVENUE</a:t>
            </a:r>
          </a:p>
          <a:p>
            <a:pPr>
              <a:spcAft>
                <a:spcPts val="600"/>
              </a:spcAft>
              <a:defRPr sz="2800" b="1">
                <a:solidFill>
                  <a:srgbClr val="E8E9ED"/>
                </a:solidFill>
              </a:defRPr>
            </a:pPr>
            <a:r>
              <a:t>₹48,412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August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377440" cy="201168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RECOVERED REVENUE</a:t>
            </a:r>
          </a:p>
          <a:p>
            <a:pPr>
              <a:spcAft>
                <a:spcPts val="600"/>
              </a:spcAft>
              <a:defRPr sz="2800" b="1">
                <a:solidFill>
                  <a:srgbClr val="34D399"/>
                </a:solidFill>
              </a:defRPr>
            </a:pPr>
            <a:r>
              <a:t>+₹32,585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From ₹84.9K cart pool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377440" cy="201168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PROJECTED TOP-LINE</a:t>
            </a:r>
          </a:p>
          <a:p>
            <a:pPr>
              <a:spcAft>
                <a:spcPts val="600"/>
              </a:spcAft>
              <a:defRPr sz="2800" b="1">
                <a:solidFill>
                  <a:srgbClr val="6C63FF"/>
                </a:solidFill>
              </a:defRPr>
            </a:pPr>
            <a:r>
              <a:t>₹80,997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+67.3% Growth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828800"/>
            <a:ext cx="2377440" cy="201168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MAX POTENTIAL</a:t>
            </a:r>
          </a:p>
          <a:p>
            <a:pPr>
              <a:spcAft>
                <a:spcPts val="600"/>
              </a:spcAft>
              <a:defRPr sz="2800" b="1">
                <a:solidFill>
                  <a:srgbClr val="34D399"/>
                </a:solidFill>
              </a:defRPr>
            </a:pPr>
            <a:r>
              <a:t>₹90,841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+87.6% (50% recovery)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607040" cy="2103120"/>
          </a:xfrm>
          <a:prstGeom prst="roundRect">
            <a:avLst/>
          </a:prstGeom>
          <a:solidFill>
            <a:srgbClr val="1A1D27"/>
          </a:solidFill>
          <a:ln w="19050">
            <a:solidFill>
              <a:srgbClr val="2E3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8B8FA3"/>
                </a:solidFill>
              </a:defRPr>
            </a:pPr>
            <a:r>
              <a:t>DELIVERABLES READY FOR LIVE DEMO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1. Interactive BI Dashboard &amp; Simulator (dashboard.html): Live real-time sliders for recovery forecasting &amp; 10 visual charts.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2. Unified Storefront &amp; Smart Cart SPA (clinkt-ui.html): Full product catalog, instant cart management, and Dark/Light mode.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3. Executive Findings Report PDF (findings_report.pdf): Formal 7-page presentation document.</a:t>
            </a:r>
          </a:p>
          <a:p>
            <a:pPr>
              <a:spcAft>
                <a:spcPts val="300"/>
              </a:spcAft>
              <a:defRPr sz="1150">
                <a:solidFill>
                  <a:srgbClr val="E8E9ED"/>
                </a:solidFill>
              </a:defRPr>
            </a:pPr>
            <a:r>
              <a:t>4. 14 Cleaned &amp; Optimized Datasets (cleaned data/exports/): Including replenishment schedules &amp; recommendation weights.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